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5" r:id="rId1"/>
  </p:sldMasterIdLst>
  <p:notesMasterIdLst>
    <p:notesMasterId r:id="rId11"/>
  </p:notesMasterIdLst>
  <p:sldIdLst>
    <p:sldId id="256" r:id="rId2"/>
    <p:sldId id="258" r:id="rId3"/>
    <p:sldId id="300" r:id="rId4"/>
    <p:sldId id="301" r:id="rId5"/>
    <p:sldId id="302" r:id="rId6"/>
    <p:sldId id="304" r:id="rId7"/>
    <p:sldId id="334" r:id="rId8"/>
    <p:sldId id="305" r:id="rId9"/>
    <p:sldId id="30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78EDF0-BACE-468A-A901-0C0698DDF11F}" v="81" dt="2025-12-02T03:28:43.7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309" autoAdjust="0"/>
    <p:restoredTop sz="94660"/>
  </p:normalViewPr>
  <p:slideViewPr>
    <p:cSldViewPr snapToGrid="0">
      <p:cViewPr>
        <p:scale>
          <a:sx n="50" d="100"/>
          <a:sy n="50" d="100"/>
        </p:scale>
        <p:origin x="1004" y="5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F01BCE-54D4-44F5-96C0-DD98586E2D72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9DB237-1ED9-4E64-B713-5B6A24A3AE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97540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503A5-C9F0-4FE7-90FB-DCD01916EB02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407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9CBC3-223F-4408-AAAF-1F799FC94CB7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469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35ADD-064D-4FB7-9E41-AA7F7A60365D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486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FB8D5-319D-4F32-A25D-B5425B64B78C}" type="datetime1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066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2F15F-B554-44C6-BCAF-2B4ACFDC63BD}" type="datetime1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440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4DB7D-3898-4B65-8BEE-763BD9E7A2D5}" type="datetime1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473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E5E92-B849-4D15-AF9A-A217D8823DAC}" type="datetime1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251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34624-CEE1-4971-AC77-2AA13D82BBEB}" type="datetime1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656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8B3E3-662A-413E-AAB7-71F149238069}" type="datetime1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900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392A4-5212-4F43-82B6-B758DA6B2007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363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54A9B-F58B-4B8A-BBB6-B18BCD38FDC8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765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4AB5B7BE-1EAC-47F2-B43A-C5972C79FE83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404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0" r:id="rId1"/>
    <p:sldLayoutId id="2147483861" r:id="rId2"/>
    <p:sldLayoutId id="2147483862" r:id="rId3"/>
    <p:sldLayoutId id="2147483863" r:id="rId4"/>
    <p:sldLayoutId id="2147483864" r:id="rId5"/>
    <p:sldLayoutId id="2147483858" r:id="rId6"/>
    <p:sldLayoutId id="2147483854" r:id="rId7"/>
    <p:sldLayoutId id="2147483855" r:id="rId8"/>
    <p:sldLayoutId id="2147483856" r:id="rId9"/>
    <p:sldLayoutId id="2147483857" r:id="rId10"/>
    <p:sldLayoutId id="2147483859" r:id="rId11"/>
  </p:sldLayoutIdLst>
  <p:hf sldNum="0" hdr="0" ft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Picture 8" descr="A colorful background with waves&#10;&#10;AI-generated content may be incorrect.">
            <a:extLst>
              <a:ext uri="{FF2B5EF4-FFF2-40B4-BE49-F238E27FC236}">
                <a16:creationId xmlns:a16="http://schemas.microsoft.com/office/drawing/2014/main" id="{31DB16A1-264D-E7EF-4714-8E713B157C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20" r="9014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0631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8FF9C6C8-A34E-1038-49DD-86C6657E0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01A4F-1F1F-42C6-8094-F85B8E89A163}" type="datetime1">
              <a:rPr lang="en-US" smtClean="0"/>
              <a:t>12/2/2025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8AC4C6-5CC9-7642-415D-2CBAF03779A0}"/>
              </a:ext>
            </a:extLst>
          </p:cNvPr>
          <p:cNvSpPr txBox="1"/>
          <p:nvPr/>
        </p:nvSpPr>
        <p:spPr>
          <a:xfrm>
            <a:off x="517870" y="2177141"/>
            <a:ext cx="8887387" cy="175432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chemeClr val="bg1"/>
                </a:solidFill>
              </a:rPr>
              <a:t>AI-Driven Employee Feedback Analysis System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5B1985-E01B-20F5-7787-2D10CC70A2FE}"/>
              </a:ext>
            </a:extLst>
          </p:cNvPr>
          <p:cNvSpPr txBox="1"/>
          <p:nvPr/>
        </p:nvSpPr>
        <p:spPr>
          <a:xfrm>
            <a:off x="517870" y="5219813"/>
            <a:ext cx="44762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chemeClr val="bg1"/>
                </a:solidFill>
              </a:rPr>
              <a:t>Group - 12</a:t>
            </a:r>
          </a:p>
        </p:txBody>
      </p:sp>
    </p:spTree>
    <p:extLst>
      <p:ext uri="{BB962C8B-B14F-4D97-AF65-F5344CB8AC3E}">
        <p14:creationId xmlns:p14="http://schemas.microsoft.com/office/powerpoint/2010/main" val="35665886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AED5AB8-8BC1-7A31-5035-7DBD0B64D37E}"/>
              </a:ext>
            </a:extLst>
          </p:cNvPr>
          <p:cNvSpPr/>
          <p:nvPr/>
        </p:nvSpPr>
        <p:spPr>
          <a:xfrm>
            <a:off x="0" y="0"/>
            <a:ext cx="12192000" cy="15544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CDD6E8E-C03E-D4E8-E9B3-A9E7B8B44298}"/>
              </a:ext>
            </a:extLst>
          </p:cNvPr>
          <p:cNvSpPr/>
          <p:nvPr/>
        </p:nvSpPr>
        <p:spPr>
          <a:xfrm>
            <a:off x="0" y="6702552"/>
            <a:ext cx="12192000" cy="15544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992A73-9454-8A53-36D4-2237490C0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/>
              <a:t>Group members:</a:t>
            </a:r>
          </a:p>
        </p:txBody>
      </p:sp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50F60C64-B713-DDF0-6DFC-12CD51855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54EA3-67BC-4F79-BAD0-C0241F775E92}" type="datetime1">
              <a:rPr lang="en-US" smtClean="0"/>
              <a:t>12/2/2025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AD7CE45-D8A6-2C73-FC7C-26BAFB297F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877" y="2249424"/>
            <a:ext cx="11155680" cy="3767328"/>
          </a:xfrm>
        </p:spPr>
        <p:txBody>
          <a:bodyPr/>
          <a:lstStyle/>
          <a:p>
            <a:pPr marL="0" indent="0">
              <a:buNone/>
            </a:pPr>
            <a:r>
              <a:rPr lang="en-IN" sz="3200" dirty="0"/>
              <a:t>M. Sai Surya – AP23110010034</a:t>
            </a:r>
          </a:p>
          <a:p>
            <a:pPr marL="0" indent="0">
              <a:buNone/>
            </a:pPr>
            <a:r>
              <a:rPr lang="en-IN" sz="3200" dirty="0"/>
              <a:t>RNV Jagadeesh Chandra - AP23110010020</a:t>
            </a:r>
          </a:p>
          <a:p>
            <a:pPr marL="0" indent="0">
              <a:buNone/>
            </a:pPr>
            <a:r>
              <a:rPr lang="en-IN" sz="3200" dirty="0"/>
              <a:t>D. </a:t>
            </a:r>
            <a:r>
              <a:rPr lang="en-IN" sz="3200" dirty="0" err="1"/>
              <a:t>Karunya</a:t>
            </a:r>
            <a:r>
              <a:rPr lang="en-IN" sz="3200" dirty="0"/>
              <a:t> - AP23110010898</a:t>
            </a:r>
          </a:p>
          <a:p>
            <a:pPr marL="0" indent="0">
              <a:buNone/>
            </a:pPr>
            <a:r>
              <a:rPr lang="en-IN" sz="3200" dirty="0"/>
              <a:t>M. Blessy – AP23110011314</a:t>
            </a:r>
          </a:p>
          <a:p>
            <a:pPr marL="0" indent="0">
              <a:buNone/>
            </a:pPr>
            <a:r>
              <a:rPr lang="en-IN" sz="3200" dirty="0"/>
              <a:t>G. Meghana - AP23110010769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85826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75118-8A7D-8010-4AAA-9BBA72DF4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2E8FC26-F411-0248-ED15-956CDC049653}"/>
              </a:ext>
            </a:extLst>
          </p:cNvPr>
          <p:cNvSpPr/>
          <p:nvPr/>
        </p:nvSpPr>
        <p:spPr>
          <a:xfrm>
            <a:off x="0" y="0"/>
            <a:ext cx="12192000" cy="15544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E831BAA-F165-B8BA-EAC2-D1696A585FE8}"/>
              </a:ext>
            </a:extLst>
          </p:cNvPr>
          <p:cNvSpPr/>
          <p:nvPr/>
        </p:nvSpPr>
        <p:spPr>
          <a:xfrm>
            <a:off x="0" y="6702552"/>
            <a:ext cx="12192000" cy="15544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EA176A-458A-6513-F324-55844C861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 &amp; Objectives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734A248-CE7B-8F8E-EC59-CF2D41F12C7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Problem Statement:</a:t>
            </a:r>
          </a:p>
          <a:p>
            <a:pPr marL="0" indent="0">
              <a:buNone/>
            </a:pPr>
            <a:r>
              <a:rPr lang="en-US" dirty="0"/>
              <a:t>Companies receive thousands of employee feedback comments, but manually analyzing them is slow, inaccurate, and fails to detect hidden workplace </a:t>
            </a:r>
            <a:r>
              <a:rPr lang="en-US" dirty="0" err="1"/>
              <a:t>issues.There</a:t>
            </a:r>
            <a:r>
              <a:rPr lang="en-US" dirty="0"/>
              <a:t> is a need for an automated system that can classify sentiment and extract workplace themes.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0B603A-1989-2DF1-D7F2-4EF5B8AB9AC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Objectives: </a:t>
            </a:r>
          </a:p>
          <a:p>
            <a:pPr marL="0" indent="0">
              <a:buNone/>
            </a:pPr>
            <a:r>
              <a:rPr lang="en-US" dirty="0"/>
              <a:t>Automate sentiment classification of employee </a:t>
            </a:r>
            <a:r>
              <a:rPr lang="en-US" dirty="0" err="1"/>
              <a:t>feedbackIdentify</a:t>
            </a:r>
            <a:r>
              <a:rPr lang="en-US" dirty="0"/>
              <a:t> key workplace themes (e.g., salary, workload, management)Provide HR with actionable insights to improve employee </a:t>
            </a:r>
            <a:r>
              <a:rPr lang="en-US" dirty="0" err="1"/>
              <a:t>satisfactionBuild</a:t>
            </a:r>
            <a:r>
              <a:rPr lang="en-US" dirty="0"/>
              <a:t> an interactive web application for real-time feedback analysis</a:t>
            </a:r>
            <a:endParaRPr lang="en-IN" dirty="0"/>
          </a:p>
        </p:txBody>
      </p:sp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F2471EB4-8EB6-C0D2-0B76-6C689C1A8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54EA3-67BC-4F79-BAD0-C0241F775E92}" type="datetime1">
              <a:rPr lang="en-US" smtClean="0"/>
              <a:t>12/2/2025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052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39CAA-88B5-5A70-0624-8C81DF317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55F1AF0-BCF8-0F83-8CD0-643D8BFA995B}"/>
              </a:ext>
            </a:extLst>
          </p:cNvPr>
          <p:cNvSpPr/>
          <p:nvPr/>
        </p:nvSpPr>
        <p:spPr>
          <a:xfrm>
            <a:off x="0" y="0"/>
            <a:ext cx="12192000" cy="15544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7EA492F-221C-8DA5-3A61-444ECEC50084}"/>
              </a:ext>
            </a:extLst>
          </p:cNvPr>
          <p:cNvSpPr/>
          <p:nvPr/>
        </p:nvSpPr>
        <p:spPr>
          <a:xfrm>
            <a:off x="0" y="6702552"/>
            <a:ext cx="12192000" cy="15544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34CADE-A0D3-0A50-E854-98160D82E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9" y="978408"/>
            <a:ext cx="5827340" cy="869114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algn="ctr"/>
            <a:r>
              <a:rPr lang="en-IN" sz="4800" dirty="0"/>
              <a:t>Proposed Solution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409C311-0F00-23C0-DB0C-28CB27A641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7640" y="2482813"/>
            <a:ext cx="6002166" cy="33009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u="sng" dirty="0"/>
              <a:t>A web-based AI platform that:</a:t>
            </a:r>
            <a:endParaRPr lang="en-US" sz="2000" u="sng" dirty="0"/>
          </a:p>
          <a:p>
            <a:r>
              <a:rPr lang="en-US" sz="2000" dirty="0"/>
              <a:t>Captures employee feedback</a:t>
            </a:r>
          </a:p>
          <a:p>
            <a:r>
              <a:rPr lang="en-US" sz="2000" dirty="0"/>
              <a:t>Performs real-time NLP processing</a:t>
            </a:r>
          </a:p>
          <a:p>
            <a:r>
              <a:rPr lang="en-US" sz="2000" dirty="0"/>
              <a:t>Predicts sentiment (positive/neutral/negative)</a:t>
            </a:r>
          </a:p>
          <a:p>
            <a:r>
              <a:rPr lang="en-US" sz="2000" dirty="0"/>
              <a:t>Extracts key workplace themes</a:t>
            </a:r>
          </a:p>
          <a:p>
            <a:r>
              <a:rPr lang="en-US" sz="2000" dirty="0"/>
              <a:t>Delivers actionable HR insights through a clean UI</a:t>
            </a:r>
          </a:p>
          <a:p>
            <a:pPr marL="0" indent="0">
              <a:buNone/>
            </a:pPr>
            <a:endParaRPr lang="en-US" sz="2800" b="1" dirty="0"/>
          </a:p>
        </p:txBody>
      </p:sp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DC3480EC-DDB3-B293-C5CC-CD571A792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54EA3-67BC-4F79-BAD0-C0241F775E92}" type="datetime1">
              <a:rPr lang="en-US" smtClean="0"/>
              <a:t>12/2/2025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A8F379C-DD62-0FAE-E6F4-6C002BDD1F6C}"/>
              </a:ext>
            </a:extLst>
          </p:cNvPr>
          <p:cNvSpPr txBox="1">
            <a:spLocks/>
          </p:cNvSpPr>
          <p:nvPr/>
        </p:nvSpPr>
        <p:spPr>
          <a:xfrm>
            <a:off x="6975565" y="841030"/>
            <a:ext cx="4781006" cy="130323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 lnSpcReduction="1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100" u="sng" dirty="0"/>
              <a:t>Workflow:</a:t>
            </a:r>
            <a:br>
              <a:rPr lang="en-IN" sz="4100" u="sng" dirty="0"/>
            </a:br>
            <a:br>
              <a:rPr lang="en-IN" sz="2400" dirty="0"/>
            </a:br>
            <a:endParaRPr lang="en-IN" sz="2400" dirty="0"/>
          </a:p>
        </p:txBody>
      </p:sp>
      <p:pic>
        <p:nvPicPr>
          <p:cNvPr id="9" name="Content Placeholder 6">
            <a:extLst>
              <a:ext uri="{FF2B5EF4-FFF2-40B4-BE49-F238E27FC236}">
                <a16:creationId xmlns:a16="http://schemas.microsoft.com/office/drawing/2014/main" id="{60A3FBF9-C66C-16C7-F653-5BC0FA3DC2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8046" y="1709928"/>
            <a:ext cx="3196045" cy="4714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438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4AEFD-F82E-A7F3-8141-1E4C01722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A651DBC-4942-9FC0-CB34-E10BF9F58B70}"/>
              </a:ext>
            </a:extLst>
          </p:cNvPr>
          <p:cNvSpPr/>
          <p:nvPr/>
        </p:nvSpPr>
        <p:spPr>
          <a:xfrm>
            <a:off x="0" y="0"/>
            <a:ext cx="12192000" cy="15544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6140FBD-6181-1293-B0C0-783F4D5FD4BB}"/>
              </a:ext>
            </a:extLst>
          </p:cNvPr>
          <p:cNvSpPr/>
          <p:nvPr/>
        </p:nvSpPr>
        <p:spPr>
          <a:xfrm>
            <a:off x="0" y="6702552"/>
            <a:ext cx="12192000" cy="15544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EFB846-D0F9-33E3-E7C2-C1A291838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&amp; Methodology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B08F92F-0309-D490-8CA5-DE768E36D5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256391"/>
            <a:ext cx="5166360" cy="40895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Dataset:</a:t>
            </a:r>
          </a:p>
          <a:p>
            <a:pPr marL="0" indent="0">
              <a:buNone/>
            </a:pPr>
            <a:r>
              <a:rPr lang="en-IN" dirty="0"/>
              <a:t>Source: Kaggle – Employee Reviews Dataset Columns used: feedback/comment, ratings, pros/cons </a:t>
            </a:r>
          </a:p>
          <a:p>
            <a:pPr marL="0" indent="0">
              <a:buNone/>
            </a:pPr>
            <a:r>
              <a:rPr lang="en-IN" dirty="0"/>
              <a:t>Size: 10,000+ reviews</a:t>
            </a:r>
          </a:p>
          <a:p>
            <a:pPr marL="0" indent="0">
              <a:buNone/>
            </a:pPr>
            <a:r>
              <a:rPr lang="en-IN" dirty="0"/>
              <a:t>Type: Unstructured text data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3F190B-7D97-5BC9-EECD-662DA0DB01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05568" y="2256391"/>
            <a:ext cx="6029381" cy="37673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900" b="1" dirty="0"/>
              <a:t>Methodology:</a:t>
            </a:r>
          </a:p>
          <a:p>
            <a:pPr marL="342900" indent="-342900">
              <a:buAutoNum type="arabicPeriod"/>
            </a:pPr>
            <a:r>
              <a:rPr lang="en-IN" dirty="0"/>
              <a:t>Data Cleaning (lowercase, remove noise, </a:t>
            </a:r>
            <a:r>
              <a:rPr lang="en-IN" dirty="0" err="1"/>
              <a:t>stopwords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dirty="0"/>
              <a:t>2. Tokenisation &amp; Lemmatisation</a:t>
            </a:r>
          </a:p>
          <a:p>
            <a:pPr marL="0" indent="0">
              <a:buNone/>
            </a:pPr>
            <a:r>
              <a:rPr lang="en-IN" dirty="0"/>
              <a:t>3. TF-IDF Vectorisation</a:t>
            </a:r>
          </a:p>
          <a:p>
            <a:pPr marL="0" indent="0">
              <a:buNone/>
            </a:pPr>
            <a:r>
              <a:rPr lang="en-IN" dirty="0"/>
              <a:t>4. Sentiment Labelling from ratings</a:t>
            </a:r>
          </a:p>
          <a:p>
            <a:pPr marL="0" indent="0">
              <a:buNone/>
            </a:pPr>
            <a:r>
              <a:rPr lang="en-IN" dirty="0"/>
              <a:t>5. Train-Test Split (80-20)</a:t>
            </a:r>
          </a:p>
          <a:p>
            <a:pPr marL="0" indent="0">
              <a:buNone/>
            </a:pPr>
            <a:r>
              <a:rPr lang="en-IN" dirty="0"/>
              <a:t>6. Model Training (Naive Bayes / Logistic Regression)</a:t>
            </a:r>
          </a:p>
          <a:p>
            <a:pPr marL="0" indent="0">
              <a:buNone/>
            </a:pPr>
            <a:r>
              <a:rPr lang="en-IN" dirty="0"/>
              <a:t>7. Theme extraction using TF-IDF &amp; frequency analysis</a:t>
            </a:r>
          </a:p>
        </p:txBody>
      </p:sp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8284F7A7-258B-80B2-1A62-F58E16149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54EA3-67BC-4F79-BAD0-C0241F775E92}" type="datetime1">
              <a:rPr lang="en-US" smtClean="0"/>
              <a:t>12/2/2025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9469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5C529-B4CC-A91E-089B-1D73CD668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76F4C70-6020-FC37-9BB7-396FBE974845}"/>
              </a:ext>
            </a:extLst>
          </p:cNvPr>
          <p:cNvSpPr/>
          <p:nvPr/>
        </p:nvSpPr>
        <p:spPr>
          <a:xfrm>
            <a:off x="0" y="0"/>
            <a:ext cx="12192000" cy="15544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87F95FD-D8B8-FFB1-FF13-5B395DCAF1EA}"/>
              </a:ext>
            </a:extLst>
          </p:cNvPr>
          <p:cNvSpPr/>
          <p:nvPr/>
        </p:nvSpPr>
        <p:spPr>
          <a:xfrm>
            <a:off x="0" y="6702552"/>
            <a:ext cx="12192000" cy="15544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9AAA43-052A-BE78-C5D4-36D21CC19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Technologies Used</a:t>
            </a:r>
          </a:p>
        </p:txBody>
      </p:sp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9ED79B09-B37B-2BA5-ADC4-F7F71FF79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54EA3-67BC-4F79-BAD0-C0241F775E92}" type="datetime1">
              <a:rPr lang="en-US" smtClean="0"/>
              <a:t>12/2/2025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66C305-0EF8-0EC5-A194-BE501ADEE9DA}"/>
              </a:ext>
            </a:extLst>
          </p:cNvPr>
          <p:cNvSpPr txBox="1"/>
          <p:nvPr/>
        </p:nvSpPr>
        <p:spPr>
          <a:xfrm>
            <a:off x="1354182" y="2211044"/>
            <a:ext cx="3496492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Backend &amp; ML</a:t>
            </a:r>
          </a:p>
          <a:p>
            <a:endParaRPr lang="en-IN" b="1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Python, NumPy, Pandas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Scikit-learn, NLTK, </a:t>
            </a:r>
            <a:r>
              <a:rPr lang="en-IN" dirty="0" err="1"/>
              <a:t>TextBlob</a:t>
            </a:r>
            <a:endParaRPr lang="en-IN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TF-IDF Vectorizer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Pickle for model saving</a:t>
            </a:r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r>
              <a:rPr lang="en-IN" sz="2400" b="1" dirty="0"/>
              <a:t>Visualization</a:t>
            </a:r>
          </a:p>
          <a:p>
            <a:endParaRPr lang="en-IN" b="1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Matplotlib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 err="1"/>
              <a:t>WordCloud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13FF5B-E04A-0D7B-9813-5B3744FE2237}"/>
              </a:ext>
            </a:extLst>
          </p:cNvPr>
          <p:cNvSpPr txBox="1"/>
          <p:nvPr/>
        </p:nvSpPr>
        <p:spPr>
          <a:xfrm>
            <a:off x="6953795" y="2064079"/>
            <a:ext cx="610470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Web Technologies</a:t>
            </a:r>
          </a:p>
          <a:p>
            <a:endParaRPr lang="en-IN" sz="2400" b="1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dirty="0"/>
              <a:t>Flask / </a:t>
            </a:r>
            <a:r>
              <a:rPr lang="en-IN" sz="2000" dirty="0" err="1"/>
              <a:t>FastAPI</a:t>
            </a:r>
            <a:endParaRPr lang="en-IN" sz="2000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dirty="0"/>
              <a:t>HTML, CSS, Bootstrap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dirty="0"/>
              <a:t>JavaScript</a:t>
            </a:r>
          </a:p>
        </p:txBody>
      </p:sp>
    </p:spTree>
    <p:extLst>
      <p:ext uri="{BB962C8B-B14F-4D97-AF65-F5344CB8AC3E}">
        <p14:creationId xmlns:p14="http://schemas.microsoft.com/office/powerpoint/2010/main" val="33483233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90FE3-E40F-EA69-800B-FCB1AC966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96F94A0-E4B0-5966-647B-968235D291CC}"/>
              </a:ext>
            </a:extLst>
          </p:cNvPr>
          <p:cNvSpPr/>
          <p:nvPr/>
        </p:nvSpPr>
        <p:spPr>
          <a:xfrm>
            <a:off x="0" y="0"/>
            <a:ext cx="12192000" cy="15544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AA66185-242A-DDD0-CCCE-12A65E15700D}"/>
              </a:ext>
            </a:extLst>
          </p:cNvPr>
          <p:cNvSpPr/>
          <p:nvPr/>
        </p:nvSpPr>
        <p:spPr>
          <a:xfrm>
            <a:off x="0" y="6702552"/>
            <a:ext cx="12192000" cy="15544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ECA1E5-FB53-CAA9-BEFE-FBA7C7F04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845" y="935918"/>
            <a:ext cx="11155680" cy="657715"/>
          </a:xfrm>
        </p:spPr>
        <p:txBody>
          <a:bodyPr>
            <a:noAutofit/>
          </a:bodyPr>
          <a:lstStyle/>
          <a:p>
            <a:r>
              <a:rPr lang="en-IN" u="sng" dirty="0"/>
              <a:t>Results &amp; Findings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EE12A86-45C9-2207-0D24-FEF4FD0CC8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6375" y="4937788"/>
            <a:ext cx="7542921" cy="1508584"/>
          </a:xfrm>
        </p:spPr>
      </p:pic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2C4BE031-DD11-5462-4E2E-3AADF5273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54EA3-67BC-4F79-BAD0-C0241F775E92}" type="datetime1">
              <a:rPr lang="en-US" smtClean="0"/>
              <a:t>12/2/2025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41FB2DA-9442-B88C-0BC6-5935965117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474" y="2147157"/>
            <a:ext cx="5114221" cy="25071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32A1F74-9EA3-3DE9-FFA5-49C7130876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2280" y="2236096"/>
            <a:ext cx="4925245" cy="209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0373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C91F9-C145-5DAD-940C-276BEDBD7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1C50AE4-153D-BB1F-6368-3639F6FEA844}"/>
              </a:ext>
            </a:extLst>
          </p:cNvPr>
          <p:cNvSpPr/>
          <p:nvPr/>
        </p:nvSpPr>
        <p:spPr>
          <a:xfrm>
            <a:off x="0" y="0"/>
            <a:ext cx="12192000" cy="15544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D287671-A68C-080F-1835-AD077E2DED77}"/>
              </a:ext>
            </a:extLst>
          </p:cNvPr>
          <p:cNvSpPr/>
          <p:nvPr/>
        </p:nvSpPr>
        <p:spPr>
          <a:xfrm>
            <a:off x="0" y="6702552"/>
            <a:ext cx="12192000" cy="15544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37FB9AAE-FCF1-F467-64A2-AE20034AC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54EA3-67BC-4F79-BAD0-C0241F775E92}" type="datetime1">
              <a:rPr lang="en-US" smtClean="0"/>
              <a:t>12/2/2025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E2CE31-A509-61D7-64A7-1ECFA89600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8958" y="1454882"/>
            <a:ext cx="6021858" cy="41509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37396C5-B6A8-FCD2-583D-4E2FCEAD33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911" y="1551392"/>
            <a:ext cx="4504288" cy="2957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563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BAEF7-A910-F6C7-412C-F360887A1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677FD82-7C7A-EBFF-927A-C5DA2475D79B}"/>
              </a:ext>
            </a:extLst>
          </p:cNvPr>
          <p:cNvSpPr/>
          <p:nvPr/>
        </p:nvSpPr>
        <p:spPr>
          <a:xfrm>
            <a:off x="0" y="0"/>
            <a:ext cx="12192000" cy="15544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D806E3F-3E05-1084-B1AD-87BD8D27A77F}"/>
              </a:ext>
            </a:extLst>
          </p:cNvPr>
          <p:cNvSpPr/>
          <p:nvPr/>
        </p:nvSpPr>
        <p:spPr>
          <a:xfrm>
            <a:off x="0" y="6702552"/>
            <a:ext cx="12192000" cy="15544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CCA65E-6061-C09E-F136-5F3F64630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338072"/>
          </a:xfrm>
        </p:spPr>
        <p:txBody>
          <a:bodyPr/>
          <a:lstStyle/>
          <a:p>
            <a:r>
              <a:rPr lang="en-IN" dirty="0"/>
              <a:t>Conclusion &amp; Future Scope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94829B9-BBC2-05B9-66A3-1516DE1531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464526"/>
            <a:ext cx="5166360" cy="38814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Conclusion</a:t>
            </a:r>
          </a:p>
          <a:p>
            <a:r>
              <a:rPr lang="en-US" dirty="0"/>
              <a:t>This project successfully built an AI-powered system capable of:</a:t>
            </a:r>
          </a:p>
          <a:p>
            <a:r>
              <a:rPr lang="en-US" dirty="0"/>
              <a:t>Automatically analyzing employee feedback</a:t>
            </a:r>
          </a:p>
          <a:p>
            <a:r>
              <a:rPr lang="en-US" dirty="0"/>
              <a:t>Extracting workplace themes</a:t>
            </a:r>
          </a:p>
          <a:p>
            <a:r>
              <a:rPr lang="en-US" dirty="0"/>
              <a:t>Assisting HR in decision-making</a:t>
            </a:r>
          </a:p>
          <a:p>
            <a:r>
              <a:rPr lang="en-US" dirty="0"/>
              <a:t>Providing real-time results via web app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F33EA7-5BE4-F3AB-2375-A71C45CB8AC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b="1" dirty="0"/>
              <a:t>Future Scope</a:t>
            </a:r>
          </a:p>
          <a:p>
            <a:r>
              <a:rPr lang="en-US" dirty="0"/>
              <a:t>Multilingual feedback support</a:t>
            </a:r>
          </a:p>
          <a:p>
            <a:r>
              <a:rPr lang="en-US" dirty="0"/>
              <a:t>Integration with company HRMS systems</a:t>
            </a:r>
          </a:p>
          <a:p>
            <a:r>
              <a:rPr lang="en-US" dirty="0"/>
              <a:t>Advanced emotion detection using transformers</a:t>
            </a:r>
          </a:p>
          <a:p>
            <a:r>
              <a:rPr lang="en-US" dirty="0"/>
              <a:t>Department-wise sentiment dashboards</a:t>
            </a:r>
          </a:p>
          <a:p>
            <a:r>
              <a:rPr lang="en-US" dirty="0"/>
              <a:t>Integration with chatbot for anonymous feedback</a:t>
            </a:r>
          </a:p>
          <a:p>
            <a:endParaRPr lang="en-IN" dirty="0"/>
          </a:p>
        </p:txBody>
      </p:sp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3D161CB7-0597-5E91-1295-8482F87BD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54EA3-67BC-4F79-BAD0-C0241F775E92}" type="datetime1">
              <a:rPr lang="en-US" smtClean="0"/>
              <a:t>12/2/2025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927117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356</Words>
  <Application>Microsoft Office PowerPoint</Application>
  <PresentationFormat>Widescreen</PresentationFormat>
  <Paragraphs>76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Bierstadt</vt:lpstr>
      <vt:lpstr>Wingdings</vt:lpstr>
      <vt:lpstr>GestaltVTI</vt:lpstr>
      <vt:lpstr>PowerPoint Presentation</vt:lpstr>
      <vt:lpstr>Group members:</vt:lpstr>
      <vt:lpstr>Problem Statement &amp; Objectives</vt:lpstr>
      <vt:lpstr>Proposed Solution</vt:lpstr>
      <vt:lpstr>Dataset &amp; Methodology</vt:lpstr>
      <vt:lpstr>Technologies Used</vt:lpstr>
      <vt:lpstr>Results &amp; Findings</vt:lpstr>
      <vt:lpstr>PowerPoint Presentation</vt:lpstr>
      <vt:lpstr>Conclusion &amp; Future Scope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AP23110010034 | Movva Sai Surya</dc:creator>
  <cp:lastModifiedBy>KARUNYA DARSI</cp:lastModifiedBy>
  <cp:revision>3</cp:revision>
  <dcterms:created xsi:type="dcterms:W3CDTF">2025-11-20T09:28:51Z</dcterms:created>
  <dcterms:modified xsi:type="dcterms:W3CDTF">2025-12-02T04:08:01Z</dcterms:modified>
</cp:coreProperties>
</file>